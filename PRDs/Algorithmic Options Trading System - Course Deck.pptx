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91840"/>
            <a:ext cx="5486400" cy="5486400"/>
          </a:xfrm>
          <a:prstGeom prst="ellipse">
            <a:avLst/>
          </a:prstGeom>
          <a:solidFill>
            <a:srgbClr val="141B44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645920"/>
            <a:ext cx="3291840" cy="3291840"/>
          </a:xfrm>
          <a:prstGeom prst="ellipse">
            <a:avLst/>
          </a:prstGeom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COURSE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9692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Architecting an Algorithmic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Options Trading System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design, order lifecycle, and risk management — case study on Raahi Bhushan's open-source ui-trading-system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9692640" cy="1234440"/>
          </a:xfrm>
          <a:prstGeom prst="roundRect">
            <a:avLst>
              <a:gd name="adj" fmla="val 7407"/>
            </a:avLst>
          </a:prstGeom>
          <a:solidFill>
            <a:srgbClr val="141B44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513892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2" dirty="0"/>
          </a:p>
        </p:txBody>
      </p:sp>
      <p:sp>
        <p:nvSpPr>
          <p:cNvPr id="10" name="Text 8"/>
          <p:cNvSpPr/>
          <p:nvPr/>
        </p:nvSpPr>
        <p:spPr>
          <a:xfrm>
            <a:off x="1572768" y="5120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93008" y="513892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493008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2" dirty="0"/>
          </a:p>
        </p:txBody>
      </p:sp>
      <p:sp>
        <p:nvSpPr>
          <p:cNvPr id="13" name="Text 11"/>
          <p:cNvSpPr/>
          <p:nvPr/>
        </p:nvSpPr>
        <p:spPr>
          <a:xfrm>
            <a:off x="3968496" y="5120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88736" y="513892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5888736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2" dirty="0"/>
          </a:p>
        </p:txBody>
      </p:sp>
      <p:sp>
        <p:nvSpPr>
          <p:cNvPr id="16" name="Text 14"/>
          <p:cNvSpPr/>
          <p:nvPr/>
        </p:nvSpPr>
        <p:spPr>
          <a:xfrm>
            <a:off x="6364224" y="5120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Hedging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84464" y="513892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8284464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92" dirty="0"/>
          </a:p>
        </p:txBody>
      </p:sp>
      <p:sp>
        <p:nvSpPr>
          <p:cNvPr id="19" name="Text 17"/>
          <p:cNvSpPr/>
          <p:nvPr/>
        </p:nvSpPr>
        <p:spPr>
          <a:xfrm>
            <a:off x="8759952" y="5120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github.com/Raahi-Bhushan/ui-trading-system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modules, one working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41B44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65376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691640" y="17647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715000" y="1764792"/>
            <a:ext cx="5623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order lifecycle, dry-run vs live, the subprocess-per-symbol model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660904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41B44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28346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1691640" y="27340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Tour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715000" y="2734056"/>
            <a:ext cx="5623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three-bucket mental model — brain, traders, watchdogs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630168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41B44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380390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785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1691640" y="3703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Strategy: Survivor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715000" y="3703320"/>
            <a:ext cx="5623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hedge — entry gaps, discretionary risk, spread hedging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599432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41B44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477316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1691640" y="46725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Strategy: Wave Extractor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715000" y="4672584"/>
            <a:ext cx="5623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Theta-positive bracket scalping and adaptive gap widening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68696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141B44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57424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724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30" dirty="0"/>
          </a:p>
        </p:txBody>
      </p:sp>
      <p:sp>
        <p:nvSpPr>
          <p:cNvPr id="27" name="Text 25"/>
          <p:cNvSpPr/>
          <p:nvPr/>
        </p:nvSpPr>
        <p:spPr>
          <a:xfrm>
            <a:off x="1691640" y="56418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&amp; Operations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5715000" y="5641848"/>
            <a:ext cx="5623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pairing, the watchdog layer, and a full trading day traced end to end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studying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492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self-hosted Flask dashboard for algorithmic options trading on NIFTY and SENSEX, built on Zerodha's Kite Connect API. It pairs a live positions/Greeks dashboard with several independent trading bots — everything runs on the operator's own machine, against their own broker account.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(Python) web app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45445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Zerodha Kite Connect API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492861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for instruments &amp; journal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531266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Black-Scholes (mibian) / opengreeks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56967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+ Web Push notifications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52360" y="155448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52360" y="171907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452360" y="24505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strategies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573768" y="155448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573768" y="171907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573768" y="24505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modules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52360" y="315468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52360" y="331927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452360" y="40507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573768" y="315468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573768" y="331927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Dry-run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573768" y="40507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mode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52360" y="489204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80960" y="5029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case study — not investment advice, and not a plug-and-play money maker.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rules for this course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19656"/>
            <a:ext cx="640080" cy="640080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801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1783080" y="1709928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money, real risk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783080" y="205740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software can place live trades. The author accepts no responsibility for financial loss — treat every example as educational, not a signal to copy.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807208"/>
            <a:ext cx="10881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96112" y="3026664"/>
            <a:ext cx="640080" cy="640080"/>
          </a:xfrm>
          <a:prstGeom prst="ellipse">
            <a:avLst/>
          </a:prstGeom>
          <a:solidFill>
            <a:srgbClr val="B4790A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30083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1783080" y="2916936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Dry-run by default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783080" y="326440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fresh install starts with live_trading = false. Orders are logged in full detail but never reach the broker until that flag is explicitly flipped.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014216"/>
            <a:ext cx="10881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423367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2153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1783080" y="4123944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hard stop-loss, by design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783080" y="4471416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 and Wave Extractor both substitute structural/behavioral controls for a price-based stop order. Understanding why is a core theme of this course.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5221224"/>
            <a:ext cx="10881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5440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5422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820" dirty="0"/>
          </a:p>
        </p:txBody>
      </p:sp>
      <p:sp>
        <p:nvSpPr>
          <p:cNvPr id="22" name="Text 20"/>
          <p:cNvSpPr/>
          <p:nvPr/>
        </p:nvSpPr>
        <p:spPr>
          <a:xfrm>
            <a:off x="1783080" y="5330952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responsibility is yours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783080" y="5678424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order placement may fall under SEBI/exchange algo-trading rules in India — this project makes no compliance claim on your behalf.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023360"/>
            <a:ext cx="5943600" cy="5943600"/>
          </a:xfrm>
          <a:prstGeom prst="ellipse">
            <a:avLst/>
          </a:prstGeom>
          <a:solidFill>
            <a:srgbClr val="141B4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substrate every strategy in this repo is built on top of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data flows run the whole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525780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002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258568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-&gt; Flask gatekeeper login -&gt; Kite Connect OAuth -&gt; access_token -&gt; session + instruments.db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600200"/>
            <a:ext cx="5257800" cy="502920"/>
          </a:xfrm>
          <a:prstGeom prst="roundRect">
            <a:avLst>
              <a:gd name="adj" fmla="val 14545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002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258568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process -&gt; common_lib.place_order() -&gt; live_trading gate -&gt; Kite API -&gt; on_order_update() -&gt; JSON state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886200"/>
            <a:ext cx="5257800" cy="502920"/>
          </a:xfrm>
          <a:prstGeom prst="roundRect">
            <a:avLst>
              <a:gd name="adj" fmla="val 14545"/>
            </a:avLst>
          </a:prstGeom>
          <a:solidFill>
            <a:srgbClr val="1E8E5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8862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544568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KiteConnect.positions() -&gt; positions_lib.py -&gt; greeks_lib.py (Black-Scholes) -&gt; dashboard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8862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3886200"/>
            <a:ext cx="5257800" cy="502920"/>
          </a:xfrm>
          <a:prstGeom prst="roundRect">
            <a:avLst>
              <a:gd name="adj" fmla="val 14545"/>
            </a:avLst>
          </a:prstGeom>
          <a:solidFill>
            <a:srgbClr val="B4790A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8862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4544568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9 AM IST -&gt; instrument_cache.sync_instruments() -&gt; SQLite staging table -&gt; atomic swap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Architecture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order lifecycle every strategy shares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decides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Survivor/Wave/etc. calls common_lib.place_order()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60520" y="18288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4572000" y="25603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Retry-safe call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0" y="30632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retry_with_backoff() wraps the Kite API request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63840" y="18288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7532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8275320" y="25603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gate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75320" y="30632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[safety] live_trading checked — false returns sentinel -1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3434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8680" y="4572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553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4" name="Text 22"/>
          <p:cNvSpPr/>
          <p:nvPr/>
        </p:nvSpPr>
        <p:spPr>
          <a:xfrm>
            <a:off x="868680" y="52120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persisted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68680" y="57150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save_executed_order() writes the fill to JSON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60520" y="44805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343400" y="43434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4572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4553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30" dirty="0"/>
          </a:p>
        </p:txBody>
      </p:sp>
      <p:sp>
        <p:nvSpPr>
          <p:cNvPr id="30" name="Text 28"/>
          <p:cNvSpPr/>
          <p:nvPr/>
        </p:nvSpPr>
        <p:spPr>
          <a:xfrm>
            <a:off x="4572000" y="52120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watchers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72000" y="57150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on_order_update() (fast) + 180s poll (source of truth)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863840" y="44805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046720" y="43434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75320" y="4572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8275320" y="4553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30" dirty="0"/>
          </a:p>
        </p:txBody>
      </p:sp>
      <p:sp>
        <p:nvSpPr>
          <p:cNvPr id="36" name="Text 34"/>
          <p:cNvSpPr/>
          <p:nvPr/>
        </p:nvSpPr>
        <p:spPr>
          <a:xfrm>
            <a:off x="8275320" y="52120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Reconciled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275320" y="57150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loop resolves any out-of-order WebSocket callbacks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0080" y="62636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 bug this design fixes: a COMPLETE callback can arrive before OPEN, especially for GTT-fired orders — the poll loop, not the WebSocket, drives the state machine.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Architecture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config flag decides real money or not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5257800" cy="685800"/>
          </a:xfrm>
          <a:prstGeom prst="roundRect">
            <a:avLst>
              <a:gd name="adj" fmla="val 10667"/>
            </a:avLst>
          </a:prstGeom>
          <a:solidFill>
            <a:srgbClr val="B4790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DRY-RUN  (default)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live_trading = false in configfile.ini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call fully logged with parameters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sent to Kite Connect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place_order() returns the sentinel value -1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shows a yellow badge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8920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logic runs exactly as it would live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691640"/>
            <a:ext cx="5257800" cy="685800"/>
          </a:xfrm>
          <a:prstGeom prst="roundRect">
            <a:avLst>
              <a:gd name="adj" fmla="val 10667"/>
            </a:avLst>
          </a:prstGeom>
          <a:solidFill>
            <a:srgbClr val="B23A2E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6916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37960" y="26060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live_trading = true, explicitly set + restarted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30632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call, same logging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35204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is sent to the real Kite Connect API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39776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order ID is returned and tracked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44348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shows a red badge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48920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downstream watchdog is now watching real risk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Architecture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process per symbol, tracked by PID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657600" cy="393192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flask_app.py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process. Spawns and tracks strategy subprocesses; refuses to double-spawn a scraper for a symbol that already has one running.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38404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81328" y="385876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each child by PID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645920"/>
            <a:ext cx="68122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81965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5669280" y="1645920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 — NIFTY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2633472"/>
            <a:ext cx="68122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280720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5669280" y="2633472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Extractor — NIFTY FUT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3621024"/>
            <a:ext cx="68122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37947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776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430" dirty="0"/>
          </a:p>
        </p:txBody>
      </p:sp>
      <p:sp>
        <p:nvSpPr>
          <p:cNvPr id="21" name="Text 19"/>
          <p:cNvSpPr/>
          <p:nvPr/>
        </p:nvSpPr>
        <p:spPr>
          <a:xfrm>
            <a:off x="5669280" y="3621024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Extractor — BANKNIFTY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4608576"/>
            <a:ext cx="68122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47823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4764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430" dirty="0"/>
          </a:p>
        </p:txBody>
      </p:sp>
      <p:sp>
        <p:nvSpPr>
          <p:cNvPr id="25" name="Text 23"/>
          <p:cNvSpPr/>
          <p:nvPr/>
        </p:nvSpPr>
        <p:spPr>
          <a:xfrm>
            <a:off x="5669280" y="4608576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Exit (pre-market job)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09160" y="5486400"/>
            <a:ext cx="6812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writes its own log file and persists state independently — a crash and restart mid-session doesn't lose track of open orders (load_todays_orders()).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Architecture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023360"/>
            <a:ext cx="5943600" cy="5943600"/>
          </a:xfrm>
          <a:prstGeom prst="ellipse">
            <a:avLst/>
          </a:prstGeom>
          <a:solidFill>
            <a:srgbClr val="141B4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Tour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 unfamiliar codebase by grouping files into what they're for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REPO TOUR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 with three buckets before any single file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352044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64592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 &amp; Memory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651760"/>
            <a:ext cx="31181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common_lib.py, positions_lib.py, instrument_cache.py, greeks_lib.py, flask_app.py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4389120"/>
            <a:ext cx="31181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 every strategy depends 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645920"/>
            <a:ext cx="3520440" cy="822960"/>
          </a:xfrm>
          <a:prstGeom prst="roundRect">
            <a:avLst>
              <a:gd name="adj" fmla="val 8889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164592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Traders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44568" y="2651760"/>
            <a:ext cx="31181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place_order_at_*.py, ticker_single_scraper_new.py, expiry_trade_lib.py, early_exit_*.py, covered_calls/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44568" y="4389120"/>
            <a:ext cx="31181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decision-makers — thin strategy logic on top of the brain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645920"/>
            <a:ext cx="352044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47888" y="164592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Watchdogs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47888" y="2651760"/>
            <a:ext cx="31181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gtt_monitor.py, position_guard/, duplicate_order_monitor.py, trade_journal.py, kite_api_monitor.py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47888" y="4389120"/>
            <a:ext cx="31181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Observe, log, and flag — none of them place a trade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Repo Tour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REPO TOUR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Folder-by-folder map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4206240"/>
        </p:xfrm>
        <a:graphic>
          <a:graphicData uri="http://schemas.openxmlformats.org/drawingml/2006/table">
            <a:tbl>
              <a:tblPr/>
              <a:tblGrid>
                <a:gridCol w="2926080"/>
                <a:gridCol w="7955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covered_calls/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Covered Calls strategy, own sub-package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for the hosted documentation site (mkdocs)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mibian/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Vendored Black-Scholes pricing library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notifications/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Telegram bot + browser Web Push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position_guard/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Unreviewed-exposure risk flagging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templates/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Flask/Jinja2 dashboard 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tests/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 suite — real SQLite, no mocking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vendor/pykiteconnect/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Vendored Kite Connect SDK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Root-level scripts follow the same naming pattern: place_order_at_*.py (Survivor family), *_lib.py (strategy or exit logic imported by a runner).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Repo Tour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023360"/>
            <a:ext cx="5943600" cy="5943600"/>
          </a:xfrm>
          <a:prstGeom prst="ellipse">
            <a:avLst/>
          </a:prstGeom>
          <a:solidFill>
            <a:srgbClr val="141B4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Deep Dive — Survivor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breakout hedge algo, built after losses fighting a trending market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SURVIVOR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 logic: breakout + gap increments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support &amp; resistance. Every further n-point move past a broken level sells another OTM leg, re-centered to stay y points out.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breaks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25,140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46120" y="27432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83280" y="22860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228600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 pt gap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2880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 PE, 300pt OTM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989320" y="27432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480" y="22860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28600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 pt gap again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2880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 another PE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732520" y="27432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69680" y="22860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869680" y="228600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90068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Reverses 90pt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006840" y="2880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 re-anchors closer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command example (place_order_at_nifty.py)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315968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431596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python3.8 place_order_at_nifty.py NIFTY25724 300:300 NFO 15:15 90:90 300:300 25140:24928 &lt;TOKEN&gt;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5257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300:300 = strike distance (y)    ·    15:15 = gap (n)    ·    90:90 = reset gap    ·    300:300 = qty per fire    ·    25140:24928 = resistance:support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Survivor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SURVIVOR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management: no hard stop, by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B23A2E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hard-coded stop loss or target in the trigger logic. Exits are discretionary, guided by the author's own thresholds.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788920"/>
            <a:ext cx="91440" cy="1828800"/>
          </a:xfrm>
          <a:prstGeom prst="rect">
            <a:avLst/>
          </a:prstGeom>
          <a:solidFill>
            <a:srgbClr val="B23A2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95351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exit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355848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an ITM leg at ~30-50% loss — 50% same-day, tighten to 30% if carried over from a prior day.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78892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2788920"/>
            <a:ext cx="91440" cy="1828800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95351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exit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3355848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when premium decays below ₹20 AND profit exceeds 50%.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84632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4846320"/>
            <a:ext cx="91440" cy="1828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01091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Trailing re-entry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5413248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reset_gap re-anchors a trigger level closer to spot on a reversal — not a P&amp;L trail, a re-engagement trail.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484632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4846320"/>
            <a:ext cx="91440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501091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Tolerance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5413248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re-triggering gives ~100-150 points of backtrace tolerance before a position becomes a real loss.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Survivor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SURVIVOR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hedged variant: place_order_at_nifty_with_buy_auto.py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Naked selling into a large one-sided move can exceed available margin. Before adding a new sell leg, the hedged variant chooses between two moves: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715768"/>
            <a:ext cx="640080" cy="64008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1783080" y="249631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 back the old leg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83080" y="288036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previously sold leg has decayed enough, close it to lock in profit and free up margin before adding anything new.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431596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1783080" y="409651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Hedge the new sell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83080" y="448056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not, buy a cheaper option against the new sell to form a spread — capping some premium upside in exchange for a lower margin requirement.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place_order_at_nifty.py is naked-only and relies purely on the reset-gap / manual-exit discipline for risk control — the hedge is opt-in.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Survivor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023360"/>
            <a:ext cx="5943600" cy="5943600"/>
          </a:xfrm>
          <a:prstGeom prst="ellipse">
            <a:avLst/>
          </a:prstGeom>
          <a:solidFill>
            <a:srgbClr val="141B4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Deep Dive — Wave Extractor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Theta-positive bracket scalping for a market that moves a lot and ends flat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WAVE EXTRACTOR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NIFTY futures @ 23,000, 10pt gap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74650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@ 22,990 / SELL @ 23,010 placed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7830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174650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Dip fills BUY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26280" y="23774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hits 22,990 — net position now long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7830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23960" y="174650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 sibling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0" y="23774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SELL @ 23,010 cancelled instantly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4290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36118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357530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4206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multiplier_scale widens next buy_gap (10→13pt)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4290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36118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20640" y="357530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Cool-off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26280" y="4206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second pause — circuit breaker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4290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0" y="36118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823960" y="357530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bracket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29600" y="4206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@ 23,000 / wider BUY @ 22,977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continuously for the life of the process — theta-positive by design, since every cycle sells first and buys back second.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Wave Extractor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WAVE EXTRACTOR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structural controls replace a stop loss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multiplier_scale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short widens the buy_gap (x1.3-1.7); net long widens the sell_gap. The losing side becomes harder to add to — the bracket itself is the defense.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691640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B4790A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6916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Cool-off timer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0" y="2651760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second pause after every fill before a new bracket is placed — a circuit breaker against firing repeatedly during a flash move.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1691640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6916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delta gate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75320" y="2651760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check_changes_in_restrictions blocks a new leg outright if the whole account's option delta is already too directional — regardless of local bracket logic.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Wave Extractor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PORTFOLIO &amp;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Survivor + Wave, run together as a deliberate hedge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Choppy / range-bound day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Extractor earns steadily, selling small swings on both sides and buying back as price oscillates.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 stays quiet — no breakout, no triggers fire.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73736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5040" y="1737360"/>
            <a:ext cx="548640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7373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trending day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0936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 rolls with the breakout, selling OTM legs on the way and adjusting/hedging as the trend continues.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3520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takes losses on the trending side, offset by Survivor's gains — confirmed directly in the author's own commentary.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548640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54864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strategy is hedged in isolation — the hedge exists at the portfolio level, across two independently running processes.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Portfolio &amp; Ops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PORTFOLIO &amp;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more strategies — honestly graded by confidence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2194560"/>
        </p:xfrm>
        <a:graphic>
          <a:graphicData uri="http://schemas.openxmlformats.org/drawingml/2006/table">
            <a:tbl>
              <a:tblPr/>
              <a:tblGrid>
                <a:gridCol w="2103120"/>
                <a:gridCol w="2651760"/>
                <a:gridCol w="4754880"/>
                <a:gridCol w="1371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Expiry Trade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expiry_trade_lib.py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Expiry-day, 3-min candles, Stochastic RSI signals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79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Exit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early_exit_lib.py / _sensex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Pre-market fair-value GTT exit orders on open positions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Covered Calls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covered_calls/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 OTM calls against held equity for premium income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79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29768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44805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this table honestly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14400" y="484632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“Confirmed” means the author has written directly about the mechanism (Early Exit's purpose is explicit and its inputs — positions + a fair-value model — are named elsewhere in the codebase). “Partial” means only a one-line README description exists — entry thresholds, sizing, and exit rules for Expiry Trade and Covered Calls are not public. Teach the gap, not a guess.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Portfolio &amp; Ops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PORTFOLIO &amp;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watchdog layer — nothing here places a trade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288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092" dirty="0"/>
          </a:p>
        </p:txBody>
      </p:sp>
      <p:sp>
        <p:nvSpPr>
          <p:cNvPr id="7" name="Text 5"/>
          <p:cNvSpPr/>
          <p:nvPr/>
        </p:nvSpPr>
        <p:spPr>
          <a:xfrm>
            <a:off x="1353312" y="1783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GTT Monitor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359152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GTT triggers (incl. Early Exit's), detects duplicates, suppresses stale ones when market is closed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4568" y="18288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092" dirty="0"/>
          </a:p>
        </p:txBody>
      </p:sp>
      <p:sp>
        <p:nvSpPr>
          <p:cNvPr id="12" name="Text 10"/>
          <p:cNvSpPr/>
          <p:nvPr/>
        </p:nvSpPr>
        <p:spPr>
          <a:xfrm>
            <a:off x="5056632" y="1783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Guard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44568" y="2359152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any symbol with unreviewed long exposure across positions, orders, and pending GTTs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47888" y="18288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47888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092" dirty="0"/>
          </a:p>
        </p:txBody>
      </p:sp>
      <p:sp>
        <p:nvSpPr>
          <p:cNvPr id="17" name="Text 15"/>
          <p:cNvSpPr/>
          <p:nvPr/>
        </p:nvSpPr>
        <p:spPr>
          <a:xfrm>
            <a:off x="8759952" y="1783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Order Monitor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47888" y="2359152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guard against double-firing orders, distinct from PID-based process de-duplication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7033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38862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092" dirty="0"/>
          </a:p>
        </p:txBody>
      </p:sp>
      <p:sp>
        <p:nvSpPr>
          <p:cNvPr id="22" name="Text 20"/>
          <p:cNvSpPr/>
          <p:nvPr/>
        </p:nvSpPr>
        <p:spPr>
          <a:xfrm>
            <a:off x="1353312" y="3840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Journal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41248" y="4416552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buy/sell pairing, per-algo P&amp;L attribution, reconciled against Zerodha's own tradebook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37033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38862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544568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092" dirty="0"/>
          </a:p>
        </p:txBody>
      </p:sp>
      <p:sp>
        <p:nvSpPr>
          <p:cNvPr id="27" name="Text 25"/>
          <p:cNvSpPr/>
          <p:nvPr/>
        </p:nvSpPr>
        <p:spPr>
          <a:xfrm>
            <a:off x="5056632" y="3840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Kite API Monitor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44568" y="4416552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every broker API call with caller, latency, and errors — operational reliability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46720" y="37033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47888" y="38862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247888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092" dirty="0"/>
          </a:p>
        </p:txBody>
      </p:sp>
      <p:sp>
        <p:nvSpPr>
          <p:cNvPr id="32" name="Text 30"/>
          <p:cNvSpPr/>
          <p:nvPr/>
        </p:nvSpPr>
        <p:spPr>
          <a:xfrm>
            <a:off x="8759952" y="3840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 Cache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47888" y="4416552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tokens and lot sizes current — every strategy's sizing math depends on this being fresh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Portfolio &amp; Ops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Cross-cutting comparison, at a glance</a:t>
            </a:r>
            <a:endParaRPr lang="en-US" sz="27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4846320"/>
        </p:xfrm>
        <a:graphic>
          <a:graphicData uri="http://schemas.openxmlformats.org/drawingml/2006/table">
            <a:tbl>
              <a:tblPr/>
              <a:tblGrid>
                <a:gridCol w="2103120"/>
                <a:gridCol w="3017520"/>
                <a:gridCol w="3017520"/>
                <a:gridCol w="292608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Extractor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Exit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trigger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Support/resistance break + n-pt increments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resting bracket orders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— exit-only 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sizing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qty per trigger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qty per leg; gap adapts, not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loss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hard-coded; manual 30-50% rule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None; structural via gap widening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&lt; ₹20 and &gt;50% profit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Opposite bracket leg IS the 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Fair-value GTT 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Reset-gap re-anchors trigger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multiplier_scale widens losing side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with_buy_auto forms spreads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delta gate blocks over-exposure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Mon-Wed adjustment overlay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Continuous, all session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Pre-market, daily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Table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PORTFOLIO &amp;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trading day, traced end to end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68680" y="3383280"/>
            <a:ext cx="1001268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3182112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44" dirty="0"/>
          </a:p>
        </p:txBody>
      </p:sp>
      <p:sp>
        <p:nvSpPr>
          <p:cNvPr id="7" name="Shape 5"/>
          <p:cNvSpPr/>
          <p:nvPr/>
        </p:nvSpPr>
        <p:spPr>
          <a:xfrm>
            <a:off x="0" y="178308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0" y="1856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AM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" y="21031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Zerodha invalidates yesterday's access token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868680" y="2834640"/>
            <a:ext cx="0" cy="548640"/>
          </a:xfrm>
          <a:prstGeom prst="line">
            <a:avLst/>
          </a:prstGeom>
          <a:noFill/>
          <a:ln w="12700">
            <a:solidFill>
              <a:srgbClr val="6B759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670048" y="3182112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2670048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44" dirty="0"/>
          </a:p>
        </p:txBody>
      </p:sp>
      <p:sp>
        <p:nvSpPr>
          <p:cNvPr id="13" name="Shape 11"/>
          <p:cNvSpPr/>
          <p:nvPr/>
        </p:nvSpPr>
        <p:spPr>
          <a:xfrm>
            <a:off x="2002536" y="384048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02536" y="3913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Morning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048256" y="41605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clicks Connect Kite → OAuth → token cached for the day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2871216" y="3383280"/>
            <a:ext cx="0" cy="457200"/>
          </a:xfrm>
          <a:prstGeom prst="line">
            <a:avLst/>
          </a:prstGeom>
          <a:noFill/>
          <a:ln w="12700">
            <a:solidFill>
              <a:srgbClr val="6B759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672584" y="3182112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4672584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44" dirty="0"/>
          </a:p>
        </p:txBody>
      </p:sp>
      <p:sp>
        <p:nvSpPr>
          <p:cNvPr id="19" name="Shape 17"/>
          <p:cNvSpPr/>
          <p:nvPr/>
        </p:nvSpPr>
        <p:spPr>
          <a:xfrm>
            <a:off x="4005072" y="178308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005072" y="1856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AM IST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050792" y="21031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instrument_cache syncs tokens &amp; lot sizes, atomic swap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4873752" y="2834640"/>
            <a:ext cx="0" cy="548640"/>
          </a:xfrm>
          <a:prstGeom prst="line">
            <a:avLst/>
          </a:prstGeom>
          <a:noFill/>
          <a:ln w="12700">
            <a:solidFill>
              <a:srgbClr val="6B759A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675120" y="3182112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44" dirty="0"/>
          </a:p>
        </p:txBody>
      </p:sp>
      <p:sp>
        <p:nvSpPr>
          <p:cNvPr id="25" name="Shape 23"/>
          <p:cNvSpPr/>
          <p:nvPr/>
        </p:nvSpPr>
        <p:spPr>
          <a:xfrm>
            <a:off x="6007608" y="384048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07608" y="3913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053328" y="41605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spawns a strategy as its own OS process, PID recorded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6876288" y="3383280"/>
            <a:ext cx="0" cy="457200"/>
          </a:xfrm>
          <a:prstGeom prst="line">
            <a:avLst/>
          </a:prstGeom>
          <a:noFill/>
          <a:ln w="12700">
            <a:solidFill>
              <a:srgbClr val="6B759A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8677656" y="3182112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8677656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44" dirty="0"/>
          </a:p>
        </p:txBody>
      </p:sp>
      <p:sp>
        <p:nvSpPr>
          <p:cNvPr id="31" name="Shape 29"/>
          <p:cNvSpPr/>
          <p:nvPr/>
        </p:nvSpPr>
        <p:spPr>
          <a:xfrm>
            <a:off x="8010144" y="178308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010144" y="1856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fill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055864" y="21031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place_order() → retry → gate → JSON state → poll reconciles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8878824" y="2834640"/>
            <a:ext cx="0" cy="548640"/>
          </a:xfrm>
          <a:prstGeom prst="line">
            <a:avLst/>
          </a:prstGeom>
          <a:noFill/>
          <a:ln w="12700">
            <a:solidFill>
              <a:srgbClr val="6B759A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10680192" y="3182112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6" name="Text 34"/>
          <p:cNvSpPr/>
          <p:nvPr/>
        </p:nvSpPr>
        <p:spPr>
          <a:xfrm>
            <a:off x="10680192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44" dirty="0"/>
          </a:p>
        </p:txBody>
      </p:sp>
      <p:sp>
        <p:nvSpPr>
          <p:cNvPr id="37" name="Shape 35"/>
          <p:cNvSpPr/>
          <p:nvPr/>
        </p:nvSpPr>
        <p:spPr>
          <a:xfrm>
            <a:off x="10012680" y="384048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012680" y="3913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058400" y="41605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Watchdogs independently monitor GTTs, exposure, P&amp;L journal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10881360" y="3383280"/>
            <a:ext cx="0" cy="457200"/>
          </a:xfrm>
          <a:prstGeom prst="line">
            <a:avLst/>
          </a:prstGeom>
          <a:noFill/>
          <a:ln w="12700">
            <a:solidFill>
              <a:srgbClr val="6B759A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Portfolio &amp; Ops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PORTFOLIO &amp;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real bugs worth teaching from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109728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288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Cookies scope by hostname, not port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instances on different ports, same host, silently stomped each other's session — browsers ignore port per RFC 6265. Fix: separate Kite Connect apps per environment.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3291840"/>
            <a:ext cx="109728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4290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atomic swaps aren't race-free alone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60120" y="38404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background sync and a manual “Sync Instruments” click could race on the same staging table. Fixed with a simple non-blocking threading.Lock().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F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4892040"/>
            <a:ext cx="109728" cy="1417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0292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WebSocket order updates can arrive out of order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60120" y="54406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callback beat the OPEN callback for GTT-fired orders. Fixed architecturally: the 180s poll, not the socket, is the source of truth.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Portfolio &amp; Ops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take away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73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40" dirty="0"/>
          </a:p>
        </p:txBody>
      </p:sp>
      <p:sp>
        <p:nvSpPr>
          <p:cNvPr id="6" name="Text 4"/>
          <p:cNvSpPr/>
          <p:nvPr/>
        </p:nvSpPr>
        <p:spPr>
          <a:xfrm>
            <a:off x="1188720" y="16276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strategy funnels through one shared, retry-safe order path — new strategies are cheap because the infrastructure isn't rebuilt each time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40487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86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40" dirty="0"/>
          </a:p>
        </p:txBody>
      </p:sp>
      <p:sp>
        <p:nvSpPr>
          <p:cNvPr id="9" name="Text 7"/>
          <p:cNvSpPr/>
          <p:nvPr/>
        </p:nvSpPr>
        <p:spPr>
          <a:xfrm>
            <a:off x="1188720" y="234086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hard stop loss” is a deliberate design choice, substituted with structural, behavioral, and portfolio-level controls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118104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99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1188720" y="3054096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Hedging in this system happens at the portfolio level (Survivor + Wave paired), not only within a single strategy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31336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1188720" y="376732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watchdog layer is separate from the traders on purpose — observation and execution are different concerns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54456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1188720" y="448056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what's confirmed vs. inferred honestly — Expiry Trade and Covered Calls have real gaps in public documentation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66928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141B44"/>
          </a:solidFill>
          <a:ln/>
          <a:effectLst>
            <a:outerShdw sx="100000" sy="100000" kx="0" ky="0" algn="bl" rotWithShape="0" blurRad="76200" dist="25400" dir="5400000">
              <a:srgbClr val="1B244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56692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reading:  github.com/Raahi-Bhushan/ui-trading-system   ·   raahibhushan.substack.com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486400" cy="5486400"/>
          </a:xfrm>
          <a:prstGeom prst="ellipse">
            <a:avLst/>
          </a:prstGeom>
          <a:solidFill>
            <a:srgbClr val="141B4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the room: where would YOU put a hard stop loss back in? What would break if you did?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6217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case study · not investment advice · read DISCLAIMER.md before running any of this with real capital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2026-08-05T20:25:50Z</dcterms:created>
  <dcterms:modified xsi:type="dcterms:W3CDTF">2026-08-05T20:25:50Z</dcterms:modified>
</cp:coreProperties>
</file>